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06301"/>
            <a:ext cx="36323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Одеський політехнічний національний університет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4927" y="1152376"/>
            <a:ext cx="8053998" cy="92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40"/>
              </a:lnSpc>
              <a:spcAft>
                <a:spcPts val="2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Outcome-based оцінка якості TypeScript коду</a:t>
            </a:r>
            <a:endParaRPr lang="en-US" sz="2800" dirty="0"/>
          </a:p>
          <a:p>
            <a:pPr algn="ctr" indent="0" marL="0">
              <a:lnSpc>
                <a:spcPts val="3640"/>
              </a:lnSpc>
              <a:spcAft>
                <a:spcPts val="2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основі аналізу open source проєктів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4927" y="2457599"/>
            <a:ext cx="80539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4000"/>
              </a:spcAft>
              <a:buNone/>
            </a:pPr>
            <a:r>
              <a:rPr lang="en-US" sz="1800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Магістерська кваліфікаційна робота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4927" y="3232249"/>
            <a:ext cx="80539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Виконав: Слабенко К.О., гр. АС-202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4927" y="3752850"/>
            <a:ext cx="80539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Науковий керівник: д.т.н., проф. Любченко В.В.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40613" y="4375249"/>
            <a:ext cx="4033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 та завдання дослідження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33177"/>
            <a:ext cx="8128099" cy="1175742"/>
          </a:xfrm>
          <a:prstGeom prst="rect">
            <a:avLst/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133177"/>
            <a:ext cx="0" cy="1175742"/>
          </a:xfrm>
          <a:prstGeom prst="line">
            <a:avLst/>
          </a:prstGeom>
          <a:noFill/>
          <a:ln w="762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1285577"/>
            <a:ext cx="77465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750" y="1628477"/>
            <a:ext cx="774659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Дослідити кореляцію між статичними метриками TypeScript коду та реальними outcome результатами на основі аналізу популярних open source проєктів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2537520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2931170"/>
            <a:ext cx="8128099" cy="127962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92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Зібрати метрики з 50 TypeScript проєктів веб-розробки</a:t>
            </a:r>
            <a:endParaRPr lang="en-US" sz="1600" dirty="0"/>
          </a:p>
          <a:p>
            <a:pPr algn="l" marL="139700" indent="-139700">
              <a:lnSpc>
                <a:spcPts val="192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статистичний аналіз кореляцій</a:t>
            </a:r>
            <a:endParaRPr lang="en-US" sz="1600" dirty="0"/>
          </a:p>
          <a:p>
            <a:pPr algn="l" marL="139700" indent="-139700">
              <a:lnSpc>
                <a:spcPts val="192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Побудувати ML-моделі для прогнозування outcomes</a:t>
            </a:r>
            <a:endParaRPr lang="en-US" sz="1600" dirty="0"/>
          </a:p>
          <a:p>
            <a:pPr algn="l" marL="139700" indent="-139700">
              <a:lnSpc>
                <a:spcPts val="192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Розробити практичний інструмент аналізу якості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Об'єкт та предмет дослідження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96727"/>
            <a:ext cx="8128099" cy="1305818"/>
          </a:xfrm>
          <a:prstGeom prst="roundRect">
            <a:avLst>
              <a:gd name="adj" fmla="val 7781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196727"/>
            <a:ext cx="0" cy="1305818"/>
          </a:xfrm>
          <a:prstGeom prst="line">
            <a:avLst/>
          </a:prstGeom>
          <a:noFill/>
          <a:ln w="762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387227"/>
            <a:ext cx="769498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Об'єкт дослідження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051" y="1784003"/>
            <a:ext cx="7694980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 оцінювання якості програмного коду TypeScript у контексті веб-розробки на основі outcome-based метрик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2756446"/>
            <a:ext cx="8128099" cy="1569839"/>
          </a:xfrm>
          <a:prstGeom prst="roundRect">
            <a:avLst>
              <a:gd name="adj" fmla="val 6472"/>
            </a:avLst>
          </a:prstGeom>
          <a:solidFill>
            <a:srgbClr val="FEFC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6050" y="2756446"/>
            <a:ext cx="0" cy="1569839"/>
          </a:xfrm>
          <a:prstGeom prst="line">
            <a:avLst/>
          </a:prstGeom>
          <a:noFill/>
          <a:ln w="76200">
            <a:solidFill>
              <a:srgbClr val="D69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051" y="2946946"/>
            <a:ext cx="769498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 дослідження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8051" y="3343721"/>
            <a:ext cx="7694980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Кореляційні залежності між статичними метриками коду та реальними показниками якості: продуктивність розробників, технічна якість продукту, бізнес-метрики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Методологія дослідження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96727"/>
            <a:ext cx="1841599" cy="3629323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387227"/>
            <a:ext cx="1460599" cy="336352"/>
          </a:xfrm>
          <a:prstGeom prst="roundRect">
            <a:avLst>
              <a:gd name="adj" fmla="val 15103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3844" y="1387227"/>
            <a:ext cx="1489811" cy="336352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3844" y="1850529"/>
            <a:ext cx="14898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Збір даних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8450" y="2190155"/>
            <a:ext cx="1460599" cy="244539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API колектори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TypeScript проєктів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метрик на проєкт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data (6 місяців)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3450" y="1196727"/>
            <a:ext cx="1841599" cy="3629323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93950" y="1387227"/>
            <a:ext cx="1460599" cy="336352"/>
          </a:xfrm>
          <a:prstGeom prst="roundRect">
            <a:avLst>
              <a:gd name="adj" fmla="val 15103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79344" y="1387227"/>
            <a:ext cx="1489811" cy="336352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79344" y="1850529"/>
            <a:ext cx="14898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Аналіз даних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93950" y="2190155"/>
            <a:ext cx="1460599" cy="244539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validation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testing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analysis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98950" y="1196727"/>
            <a:ext cx="1841599" cy="3629323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89450" y="1387227"/>
            <a:ext cx="1460599" cy="336352"/>
          </a:xfrm>
          <a:prstGeom prst="roundRect">
            <a:avLst>
              <a:gd name="adj" fmla="val 15103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74844" y="1387227"/>
            <a:ext cx="1489811" cy="336352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74844" y="1850529"/>
            <a:ext cx="148981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ML-моделювання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89450" y="2428280"/>
            <a:ext cx="1460599" cy="220727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алгоритмів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explainability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94450" y="1196727"/>
            <a:ext cx="1841599" cy="3629323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84950" y="1387227"/>
            <a:ext cx="1460599" cy="336352"/>
          </a:xfrm>
          <a:prstGeom prst="roundRect">
            <a:avLst>
              <a:gd name="adj" fmla="val 15103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70344" y="1387227"/>
            <a:ext cx="1489811" cy="336352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70344" y="1850529"/>
            <a:ext cx="14898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Реалізація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84950" y="2190155"/>
            <a:ext cx="1460599" cy="244539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інструмент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scoring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Документація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Зібрані дані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33177"/>
            <a:ext cx="3983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датасету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526828"/>
            <a:ext cx="3905399" cy="926902"/>
          </a:xfrm>
          <a:prstGeom prst="roundRect">
            <a:avLst>
              <a:gd name="adj" fmla="val 82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885504"/>
            <a:ext cx="7254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Проєктів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06602" y="1856929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950" y="2555230"/>
            <a:ext cx="3905399" cy="926902"/>
          </a:xfrm>
          <a:prstGeom prst="roundRect">
            <a:avLst>
              <a:gd name="adj" fmla="val 82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913906"/>
            <a:ext cx="612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73103" y="2885331"/>
            <a:ext cx="3956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950" y="3583632"/>
            <a:ext cx="3905399" cy="926902"/>
          </a:xfrm>
          <a:prstGeom prst="roundRect">
            <a:avLst>
              <a:gd name="adj" fmla="val 82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0350" y="3942308"/>
            <a:ext cx="9172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8905" y="3913733"/>
            <a:ext cx="6548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30800" y="1133177"/>
            <a:ext cx="3983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Категорії проєктів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30800" y="1526828"/>
            <a:ext cx="3905399" cy="1885355"/>
          </a:xfrm>
          <a:prstGeom prst="roundRect">
            <a:avLst>
              <a:gd name="adj" fmla="val 4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3200" y="1679228"/>
            <a:ext cx="3600599" cy="151715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TypeScript (10)</a:t>
            </a:r>
            <a:endParaRPr lang="en-US" sz="13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Component Libraries (10)</a:t>
            </a:r>
            <a:endParaRPr lang="en-US" sz="13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 (8)</a:t>
            </a:r>
            <a:endParaRPr lang="en-US" sz="13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Tools (6)</a:t>
            </a:r>
            <a:endParaRPr lang="en-US" sz="13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Tools (8)</a:t>
            </a:r>
            <a:endParaRPr lang="en-US" sz="13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Forms (8)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Outcome-based метрики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96727"/>
            <a:ext cx="2540050" cy="362932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387227"/>
            <a:ext cx="2159050" cy="679252"/>
          </a:xfrm>
          <a:prstGeom prst="roundRect">
            <a:avLst>
              <a:gd name="adj" fmla="val 7479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2308" y="1488728"/>
            <a:ext cx="189133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Experience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8450" y="2218879"/>
            <a:ext cx="2159050" cy="166776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Duration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Time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 Commit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Iteration Rate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Changed/Hour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01901" y="1196727"/>
            <a:ext cx="2540050" cy="362932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92401" y="1387227"/>
            <a:ext cx="2159050" cy="679252"/>
          </a:xfrm>
          <a:prstGeom prst="roundRect">
            <a:avLst>
              <a:gd name="adj" fmla="val 7479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26258" y="1488728"/>
            <a:ext cx="189133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Performance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92401" y="2218879"/>
            <a:ext cx="2159050" cy="166776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Error Rate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Size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Load Time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Score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Deploys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5851" y="1196727"/>
            <a:ext cx="2540050" cy="362932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86351" y="1387227"/>
            <a:ext cx="2159050" cy="441127"/>
          </a:xfrm>
          <a:prstGeom prst="roundRect">
            <a:avLst>
              <a:gd name="adj" fmla="val 11516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20209" y="1488728"/>
            <a:ext cx="1891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86351" y="1980754"/>
            <a:ext cx="2159050" cy="166776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Market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Success Rate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Contributors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Resolution Rate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Growth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Quality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Статистичний аналіз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07877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Ключові кореляції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447502"/>
            <a:ext cx="3937099" cy="1171277"/>
          </a:xfrm>
          <a:prstGeom prst="roundRect">
            <a:avLst>
              <a:gd name="adj" fmla="val 65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701403"/>
            <a:ext cx="37049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Duration - Time to Market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0350" y="2076004"/>
            <a:ext cx="37049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0.881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2720280"/>
            <a:ext cx="3937099" cy="1171277"/>
          </a:xfrm>
          <a:prstGeom prst="roundRect">
            <a:avLst>
              <a:gd name="adj" fmla="val 65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974181"/>
            <a:ext cx="37049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 - Community Growth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0350" y="3348782"/>
            <a:ext cx="37049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0.772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8950" y="1107877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 аналізу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8950" y="1447502"/>
            <a:ext cx="3937099" cy="1428155"/>
          </a:xfrm>
          <a:prstGeom prst="roundRect">
            <a:avLst>
              <a:gd name="adj" fmla="val 53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574453"/>
            <a:ext cx="3683198" cy="111085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Testing (171 пари, p &lt; 0.05)</a:t>
            </a:r>
            <a:endParaRPr lang="en-US" sz="12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Analysis (R2 = 0.784)</a:t>
            </a:r>
            <a:endParaRPr lang="en-US" sz="12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Analysis (k = 2)</a:t>
            </a:r>
            <a:endParaRPr lang="en-US" sz="12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(10 компонент для 90%)</a:t>
            </a:r>
            <a:endParaRPr lang="en-US" sz="12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(126 features)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ML-моделювання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07877"/>
            <a:ext cx="48190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Результати моделей (Test R2)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447502"/>
            <a:ext cx="4724549" cy="1171277"/>
          </a:xfrm>
          <a:prstGeom prst="roundRect">
            <a:avLst>
              <a:gd name="adj" fmla="val 65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701403"/>
            <a:ext cx="45081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 - Linear Regression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0350" y="2076004"/>
            <a:ext cx="45081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= 0.625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2720280"/>
            <a:ext cx="4724549" cy="1171277"/>
          </a:xfrm>
          <a:prstGeom prst="roundRect">
            <a:avLst>
              <a:gd name="adj" fmla="val 65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974181"/>
            <a:ext cx="45081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Market - Lasso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0350" y="3348782"/>
            <a:ext cx="45081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= 0.663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1107877"/>
            <a:ext cx="321264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Features (SHAP)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1447502"/>
            <a:ext cx="3149650" cy="996851"/>
          </a:xfrm>
          <a:prstGeom prst="roundRect">
            <a:avLst>
              <a:gd name="adj" fmla="val 76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13350" y="1574453"/>
            <a:ext cx="2895749" cy="6667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dx_tp_interaction </a:t>
            </a:r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47.5%</a:t>
            </a:r>
            <a:endParaRPr lang="en-US" sz="12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codeReviewDuration </a:t>
            </a:r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40.5%</a:t>
            </a:r>
            <a:endParaRPr lang="en-US" sz="12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testCoverage </a:t>
            </a:r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83.4%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Ключове відкриття 1: Code Review Duration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77677"/>
            <a:ext cx="3905399" cy="1763167"/>
          </a:xfrm>
          <a:prstGeom prst="rect">
            <a:avLst/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177677"/>
            <a:ext cx="0" cy="1763167"/>
          </a:xfrm>
          <a:prstGeom prst="line">
            <a:avLst/>
          </a:prstGeom>
          <a:noFill/>
          <a:ln w="762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368177"/>
            <a:ext cx="3387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Кореляція r = 0.881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051" y="1790402"/>
            <a:ext cx="3387825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Тривалість code review напряму впливає на час доставки 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950" y="3194745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година review = +1.3 години delay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30800" y="1177677"/>
            <a:ext cx="3983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Рекомендації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30800" y="1596777"/>
            <a:ext cx="3905399" cy="1553914"/>
          </a:xfrm>
          <a:prstGeom prst="roundRect">
            <a:avLst>
              <a:gd name="adj" fmla="val 49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21300" y="1787277"/>
            <a:ext cx="3524399" cy="104596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менше 48 годин</a:t>
            </a:r>
            <a:endParaRPr lang="en-US" sz="1600" dirty="0"/>
          </a:p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(CI/CD)</a:t>
            </a:r>
            <a:endParaRPr lang="en-US" sz="1600" dirty="0"/>
          </a:p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Менші PR (до 400 рядків)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30800" y="3341191"/>
            <a:ext cx="3905399" cy="838200"/>
          </a:xfrm>
          <a:prstGeom prst="roundRect">
            <a:avLst>
              <a:gd name="adj" fmla="val 9091"/>
            </a:avLst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86056" y="3493591"/>
            <a:ext cx="359488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929% (економія 1 день на feature)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Ключове відкриття 2: Test Coverage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77677"/>
            <a:ext cx="3905399" cy="1443186"/>
          </a:xfrm>
          <a:prstGeom prst="rect">
            <a:avLst/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177677"/>
            <a:ext cx="0" cy="1443186"/>
          </a:xfrm>
          <a:prstGeom prst="line">
            <a:avLst/>
          </a:prstGeom>
          <a:noFill/>
          <a:ln w="76200">
            <a:solidFill>
              <a:srgbClr val="38A1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368177"/>
            <a:ext cx="3387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83.4%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051" y="1790402"/>
            <a:ext cx="338782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 є домінантним предиктором росту спільноти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950" y="2874764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coverage = +70 stars/month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30800" y="1177677"/>
            <a:ext cx="3983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Рекомендації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30800" y="1596777"/>
            <a:ext cx="3905399" cy="1553914"/>
          </a:xfrm>
          <a:prstGeom prst="roundRect">
            <a:avLst>
              <a:gd name="adj" fmla="val 49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21300" y="1787277"/>
            <a:ext cx="3524399" cy="104596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coverage понад 85%</a:t>
            </a:r>
            <a:endParaRPr lang="en-US" sz="1600" dirty="0"/>
          </a:p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badges у README</a:t>
            </a:r>
            <a:endParaRPr lang="en-US" sz="1600" dirty="0"/>
          </a:p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Jest, Vitest, Playwright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30800" y="3341191"/>
            <a:ext cx="3905399" cy="571500"/>
          </a:xfrm>
          <a:prstGeom prst="roundRect">
            <a:avLst>
              <a:gd name="adj" fmla="val 13333"/>
            </a:avLst>
          </a:prstGeom>
          <a:solidFill>
            <a:srgbClr val="BEE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86056" y="3493591"/>
            <a:ext cx="35948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якості для contributors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Практичний інструмент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96727"/>
            <a:ext cx="3905399" cy="1656457"/>
          </a:xfrm>
          <a:prstGeom prst="rect">
            <a:avLst/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196727"/>
            <a:ext cx="0" cy="1656457"/>
          </a:xfrm>
          <a:prstGeom prst="line">
            <a:avLst/>
          </a:prstGeom>
          <a:noFill/>
          <a:ln w="762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387227"/>
            <a:ext cx="3387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quality-dashboard.mjs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051" y="1809452"/>
            <a:ext cx="3387825" cy="8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інструмент для аналізу якості TypeScript проєктів на основі результатів ML-моделювання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3107085"/>
            <a:ext cx="398350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Технології: Node.js, GitHub API, SHAP coefficients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30800" y="1196727"/>
            <a:ext cx="3983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Можливості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30800" y="1615827"/>
            <a:ext cx="3905399" cy="2475905"/>
          </a:xfrm>
          <a:prstGeom prst="roundRect">
            <a:avLst>
              <a:gd name="adj" fmla="val 3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21300" y="1806327"/>
            <a:ext cx="3524399" cy="19934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Quality Score</a:t>
            </a:r>
            <a:endParaRPr lang="en-US" sz="1500" dirty="0"/>
          </a:p>
          <a:p>
            <a:pPr algn="l" marL="114300" indent="-1143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 по категоріях (DX, TP, BI)</a:t>
            </a:r>
            <a:endParaRPr lang="en-US" sz="1500" dirty="0"/>
          </a:p>
          <a:p>
            <a:pPr algn="l" marL="114300" indent="-1143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comparison (percentile)</a:t>
            </a:r>
            <a:endParaRPr lang="en-US" sz="1500" dirty="0"/>
          </a:p>
          <a:p>
            <a:pPr algn="l" marL="114300" indent="-1143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prediction</a:t>
            </a:r>
            <a:endParaRPr lang="en-US" sz="1500" dirty="0"/>
          </a:p>
          <a:p>
            <a:pPr algn="l" marL="114300" indent="-1143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recommendations</a:t>
            </a:r>
            <a:endParaRPr lang="en-US" sz="1500" dirty="0"/>
          </a:p>
          <a:p>
            <a:pPr algn="l" marL="114300" indent="-1143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calculations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Висновки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733425"/>
            <a:ext cx="8128099" cy="2430214"/>
          </a:xfrm>
          <a:prstGeom prst="roundRect">
            <a:avLst>
              <a:gd name="adj" fmla="val 418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1851" y="885825"/>
            <a:ext cx="7620298" cy="202391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Виявлено сильні кореляції між метриками коду та outcome результатами: 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Duration (r=0.88)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 (r=0.77)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Побудовано ML-моделі з 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до 0.66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 прогнозування time to market та community growth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effects (DX x TP) мають 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 важливості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 загальної якості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Розроблено практичний CLI інструмент quality-dashboard для застосування результатів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Сформовано 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 ROI розрахунками для команд розробки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Outcome-based оцінка якості TypeScript коду</dc:title>
  <dc:subject>Магістерська кваліфікаційна робота</dc:subject>
  <dc:creator>Кашин К.О.</dc:creator>
  <cp:lastModifiedBy>Кашин К.О.</cp:lastModifiedBy>
  <cp:revision>1</cp:revision>
  <dcterms:created xsi:type="dcterms:W3CDTF">2025-11-19T14:10:44Z</dcterms:created>
  <dcterms:modified xsi:type="dcterms:W3CDTF">2025-11-19T14:10:44Z</dcterms:modified>
</cp:coreProperties>
</file>